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7" r:id="rId2"/>
    <p:sldId id="256" r:id="rId3"/>
    <p:sldId id="266" r:id="rId4"/>
    <p:sldId id="263" r:id="rId5"/>
    <p:sldId id="267" r:id="rId6"/>
    <p:sldId id="264" r:id="rId7"/>
    <p:sldId id="268" r:id="rId8"/>
    <p:sldId id="269" r:id="rId9"/>
    <p:sldId id="270" r:id="rId10"/>
    <p:sldId id="271" r:id="rId11"/>
    <p:sldId id="272" r:id="rId12"/>
    <p:sldId id="273" r:id="rId13"/>
    <p:sldId id="275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65" r:id="rId22"/>
    <p:sldId id="287" r:id="rId23"/>
    <p:sldId id="286" r:id="rId24"/>
  </p:sldIdLst>
  <p:sldSz cx="9144000" cy="6858000" type="screen4x3"/>
  <p:notesSz cx="6797675" cy="987425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2B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77" autoAdjust="0"/>
  </p:normalViewPr>
  <p:slideViewPr>
    <p:cSldViewPr snapToGrid="0" showGuides="1">
      <p:cViewPr varScale="1">
        <p:scale>
          <a:sx n="84" d="100"/>
          <a:sy n="84" d="100"/>
        </p:scale>
        <p:origin x="145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996" y="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0F87E73C-D406-41F7-B2FD-3639FFA6F1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FB15F4C6-E824-448A-AB55-FB113A7D87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4E54281C-FB90-4EEC-B693-B945F7DCAE3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57844B6D-0752-432C-9102-5CA9E695512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380538"/>
            <a:ext cx="29464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B9661E7-8F61-4AD6-AF66-5D1CBC89267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15D9F860-7F30-4269-AFA7-BCAD7B4ADB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A83325F3-08CB-498E-9C92-3B30321A64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BFF7730-6C01-44F0-A3AC-A1309F25E796}" type="datetimeFigureOut">
              <a:rPr lang="es-ES_tradnl"/>
              <a:pPr>
                <a:defRPr/>
              </a:pPr>
              <a:t>13/10/2026</a:t>
            </a:fld>
            <a:endParaRPr lang="es-ES_tradnl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E9E19DB-7767-4110-B872-4655D2C91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F669D235-92EA-4740-8701-87F8918D0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C472F6FE-2662-42D4-9E7E-45E2A5953B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D0D6F852-7B54-412D-9278-C9E1012E5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D8FD22-7AFD-48F0-A42F-4DC8F15BD7E7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350FE9D-EA34-4ECE-86F2-B22FB54F86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5BFDC50-6843-42E5-979E-CCA032D2AF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BE7F9B8-7706-4A5C-8A09-CE89FB712A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67023-06E7-4F6E-AB96-5B38D59BC7A6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87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>
            <a:extLst>
              <a:ext uri="{FF2B5EF4-FFF2-40B4-BE49-F238E27FC236}">
                <a16:creationId xmlns:a16="http://schemas.microsoft.com/office/drawing/2014/main" id="{B61A57BC-9F2B-47D6-B91E-C874D38C3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882650"/>
          </a:xfrm>
          <a:prstGeom prst="rect">
            <a:avLst/>
          </a:prstGeom>
          <a:solidFill>
            <a:srgbClr val="002B5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s-ES_tradnl" altLang="es-E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dirty="0"/>
              <a:t>Haga clic para modificar el estilo de título del patrón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el estilo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350FE9D-EA34-4ECE-86F2-B22FB54F86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5BFDC50-6843-42E5-979E-CCA032D2AF2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BE7F9B8-7706-4A5C-8A09-CE89FB712A2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r>
              <a:rPr lang="es-ES" dirty="0"/>
              <a:t>1</a:t>
            </a:r>
          </a:p>
        </p:txBody>
      </p:sp>
      <p:sp>
        <p:nvSpPr>
          <p:cNvPr id="1032" name="Rectangle 9">
            <a:extLst>
              <a:ext uri="{FF2B5EF4-FFF2-40B4-BE49-F238E27FC236}">
                <a16:creationId xmlns:a16="http://schemas.microsoft.com/office/drawing/2014/main" id="{D44DC259-ECC9-4363-B079-D6D7E2B4C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4800"/>
            <a:ext cx="9144000" cy="203200"/>
          </a:xfrm>
          <a:prstGeom prst="rect">
            <a:avLst/>
          </a:prstGeom>
          <a:solidFill>
            <a:srgbClr val="002B5E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2" tIns="45716" rIns="91432" bIns="45716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endParaRPr lang="es-ES_tradnl" altLang="es-ES"/>
          </a:p>
        </p:txBody>
      </p:sp>
      <p:sp>
        <p:nvSpPr>
          <p:cNvPr id="1033" name="Text Box 10">
            <a:extLst>
              <a:ext uri="{FF2B5EF4-FFF2-40B4-BE49-F238E27FC236}">
                <a16:creationId xmlns:a16="http://schemas.microsoft.com/office/drawing/2014/main" id="{0641648E-3D5B-4703-B728-07327C151C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2412" y="6608792"/>
            <a:ext cx="86391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s-ES" altLang="es-ES" sz="1400" dirty="0">
                <a:solidFill>
                  <a:schemeClr val="bg1"/>
                </a:solidFill>
                <a:latin typeface="Arial" panose="020B0604020202020204" pitchFamily="34" charset="0"/>
              </a:rPr>
              <a:t>Migración de un canal de vídeo en tiempo real desde una FPGA </a:t>
            </a:r>
            <a:r>
              <a:rPr lang="es-ES" altLang="es-ES" sz="1400" dirty="0" err="1">
                <a:solidFill>
                  <a:schemeClr val="bg1"/>
                </a:solidFill>
                <a:latin typeface="Arial" panose="020B0604020202020204" pitchFamily="34" charset="0"/>
              </a:rPr>
              <a:t>SoC</a:t>
            </a:r>
            <a:r>
              <a:rPr lang="es-ES" altLang="es-ES" sz="1400" dirty="0">
                <a:solidFill>
                  <a:schemeClr val="bg1"/>
                </a:solidFill>
                <a:latin typeface="Arial" panose="020B0604020202020204" pitchFamily="34" charset="0"/>
              </a:rPr>
              <a:t> a una FPGA discreta de bajo coste</a:t>
            </a:r>
          </a:p>
        </p:txBody>
      </p:sp>
      <p:pic>
        <p:nvPicPr>
          <p:cNvPr id="1035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19188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n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25347" y="25279"/>
            <a:ext cx="2300754" cy="82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0" y="1843860"/>
            <a:ext cx="9144000" cy="1431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sz="2900" b="1" noProof="0" dirty="0">
                <a:latin typeface="Arial Black" panose="020B0A04020102020204" pitchFamily="34" charset="0"/>
              </a:rPr>
              <a:t>Migración de un canal de vídeo en tiempo real desde una FPGA </a:t>
            </a:r>
            <a:r>
              <a:rPr lang="es-ES" sz="2900" b="1" noProof="0" dirty="0" err="1">
                <a:latin typeface="Arial Black" panose="020B0A04020102020204" pitchFamily="34" charset="0"/>
              </a:rPr>
              <a:t>SoC</a:t>
            </a:r>
            <a:r>
              <a:rPr lang="es-ES" sz="2900" b="1" noProof="0" dirty="0">
                <a:latin typeface="Arial Black" panose="020B0A04020102020204" pitchFamily="34" charset="0"/>
              </a:rPr>
              <a:t> a una FPGA discreta</a:t>
            </a:r>
          </a:p>
        </p:txBody>
      </p:sp>
      <p:sp>
        <p:nvSpPr>
          <p:cNvPr id="4099" name="Text Box 4"/>
          <p:cNvSpPr txBox="1">
            <a:spLocks noChangeArrowheads="1"/>
          </p:cNvSpPr>
          <p:nvPr/>
        </p:nvSpPr>
        <p:spPr bwMode="auto">
          <a:xfrm>
            <a:off x="1227138" y="76200"/>
            <a:ext cx="5843587" cy="461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s-ES" altLang="es-ES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Trabajo Fin de Grado</a:t>
            </a:r>
          </a:p>
        </p:txBody>
      </p:sp>
      <p:sp>
        <p:nvSpPr>
          <p:cNvPr id="4100" name="Text Box 5"/>
          <p:cNvSpPr txBox="1">
            <a:spLocks noChangeArrowheads="1"/>
          </p:cNvSpPr>
          <p:nvPr/>
        </p:nvSpPr>
        <p:spPr bwMode="auto">
          <a:xfrm>
            <a:off x="1401763" y="3551238"/>
            <a:ext cx="6394450" cy="101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altLang="es-ES" sz="2300" b="1" dirty="0">
                <a:latin typeface="Arial Narrow" panose="020B0606020202030204" pitchFamily="34" charset="0"/>
              </a:rPr>
              <a:t>Realizado por: Alfonso Suárez Gasull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  <a:buFontTx/>
              <a:buNone/>
            </a:pPr>
            <a:r>
              <a:rPr lang="es-ES" altLang="es-ES" sz="2300" b="1" dirty="0">
                <a:latin typeface="Arial Narrow" panose="020B0606020202030204" pitchFamily="34" charset="0"/>
              </a:rPr>
              <a:t>Dirigido por: Martín González García y Juan Antonio Rodríguez Fernández</a:t>
            </a:r>
          </a:p>
        </p:txBody>
      </p:sp>
      <p:sp>
        <p:nvSpPr>
          <p:cNvPr id="4101" name="Text Box 6"/>
          <p:cNvSpPr txBox="1">
            <a:spLocks noChangeArrowheads="1"/>
          </p:cNvSpPr>
          <p:nvPr/>
        </p:nvSpPr>
        <p:spPr bwMode="auto">
          <a:xfrm>
            <a:off x="1614488" y="4978400"/>
            <a:ext cx="596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1600" noProof="0" dirty="0">
                <a:latin typeface="Arial Narrow" panose="020B0606020202030204" pitchFamily="34" charset="0"/>
              </a:rPr>
              <a:t>Departamento de Tecnología Electrónica - UNIVERSIDAD DE MALAGA</a:t>
            </a:r>
          </a:p>
          <a:p>
            <a:pPr algn="ctr" eaLnBrk="1" hangingPunct="1">
              <a:lnSpc>
                <a:spcPct val="60000"/>
              </a:lnSpc>
              <a:spcBef>
                <a:spcPct val="50000"/>
              </a:spcBef>
              <a:buFontTx/>
              <a:buNone/>
            </a:pPr>
            <a:r>
              <a:rPr lang="es-ES" sz="1600" noProof="0" dirty="0">
                <a:latin typeface="Arial Narrow" panose="020B0606020202030204" pitchFamily="34" charset="0"/>
              </a:rPr>
              <a:t>Málaga, 29 de septiembre de 2026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B056A53-0A74-0E03-A97F-8BD2C451A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</a:t>
            </a:fld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/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/>
          <p:cNvSpPr txBox="1">
            <a:spLocks noChangeArrowheads="1"/>
          </p:cNvSpPr>
          <p:nvPr/>
        </p:nvSpPr>
        <p:spPr bwMode="auto">
          <a:xfrm>
            <a:off x="228600" y="2062163"/>
            <a:ext cx="7594600" cy="319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Introducción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Canal de vídeo de referencia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Canal de vídeo migrado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Canal de vídeo ampliado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Conclusiones y líneas futuras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F845C8B-59D0-CF80-2C46-BAFEE326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</a:t>
            </a:fld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65463-9898-E6E1-C4CA-03E74AB34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>
            <a:extLst>
              <a:ext uri="{FF2B5EF4-FFF2-40B4-BE49-F238E27FC236}">
                <a16:creationId xmlns:a16="http://schemas.microsoft.com/office/drawing/2014/main" id="{7D41E98D-898C-9FB9-0869-0919954EB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>
            <a:extLst>
              <a:ext uri="{FF2B5EF4-FFF2-40B4-BE49-F238E27FC236}">
                <a16:creationId xmlns:a16="http://schemas.microsoft.com/office/drawing/2014/main" id="{7AD01C14-3A3C-4CA2-CC1C-958D78F4F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62163"/>
            <a:ext cx="7594600" cy="319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Introducción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de referencia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migrado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ampliado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Conclusiones y líneas futuras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79B5749-DF9D-D6DA-86AE-90DB1AB7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26703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/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Introducción</a:t>
            </a:r>
          </a:p>
        </p:txBody>
      </p:sp>
      <p:sp>
        <p:nvSpPr>
          <p:cNvPr id="7171" name="Rectangle 3075"/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/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/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FPGA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SoC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 Lógica Programable (PL) para el procesado + Sistema de Procesamiento (PS) para el resto</a:t>
            </a:r>
          </a:p>
          <a:p>
            <a:pPr lvl="0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PS encarece la plataforma y a menudo queda infrautilizado</a:t>
            </a:r>
          </a:p>
          <a:p>
            <a:pPr lvl="0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¿Y si se reproduce en lógica? → FPGA discreta de bajo coste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0135D72-1061-ED54-3FBA-A2AC80F7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4</a:t>
            </a:fld>
            <a:endParaRPr lang="es-E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36BF8-7866-9199-FEF5-2568BF2A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>
            <a:extLst>
              <a:ext uri="{FF2B5EF4-FFF2-40B4-BE49-F238E27FC236}">
                <a16:creationId xmlns:a16="http://schemas.microsoft.com/office/drawing/2014/main" id="{707D4777-6DEC-D63F-A92B-F0B02F717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>
            <a:extLst>
              <a:ext uri="{FF2B5EF4-FFF2-40B4-BE49-F238E27FC236}">
                <a16:creationId xmlns:a16="http://schemas.microsoft.com/office/drawing/2014/main" id="{62F8C34D-887C-F7C6-BA2C-9C0D2CC20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62163"/>
            <a:ext cx="7594600" cy="319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Introducción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Canal de vídeo de referencia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migrado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ampliado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Conclusiones y líneas futuras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3415808-0682-FCCD-9A9F-F1F40B71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048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3074"/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de referencia</a:t>
            </a:r>
          </a:p>
        </p:txBody>
      </p:sp>
      <p:sp>
        <p:nvSpPr>
          <p:cNvPr id="8195" name="Rectangle 3075"/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8196" name="Rectangle 3076"/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8197" name="Rectangle 3137"/>
          <p:cNvSpPr>
            <a:spLocks noChangeArrowheads="1"/>
          </p:cNvSpPr>
          <p:nvPr/>
        </p:nvSpPr>
        <p:spPr bwMode="auto">
          <a:xfrm>
            <a:off x="257175" y="467519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spcBef>
                <a:spcPct val="50000"/>
              </a:spcBef>
              <a:buNone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Procesado de vídeo en el PL; el control depende del PS.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E3F19C6-3A23-F903-1D59-495EB239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6</a:t>
            </a:fld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2B57A67-DA06-A568-83FA-18C94732E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75" y="1185863"/>
            <a:ext cx="8629650" cy="41450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2F298-D1CA-1FA7-F0B7-37DDC1528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7D0F7B0C-25A0-E331-D790-CC473D38B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de referencia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6C1182E9-9C91-3812-7B8C-B90AD198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11E56289-6E54-2D5C-B555-BEB0770DB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AD89903F-B861-374E-185D-5AB10C73D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4"/>
            <a:ext cx="8001000" cy="5095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 eaLnBrk="1" hangingPunct="1">
              <a:spcBef>
                <a:spcPct val="50000"/>
              </a:spcBef>
              <a:buNone/>
            </a:pPr>
            <a:r>
              <a:rPr lang="es-ES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Dependencias del sistema de referencia</a:t>
            </a:r>
          </a:p>
          <a:p>
            <a:pPr marL="0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5B3F6CF-1F53-D23E-7846-EBB44506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7</a:t>
            </a:fld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39BE026-0113-25A2-A269-BE1DA7FA4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099489"/>
              </p:ext>
            </p:extLst>
          </p:nvPr>
        </p:nvGraphicFramePr>
        <p:xfrm>
          <a:off x="301752" y="1973072"/>
          <a:ext cx="8440610" cy="310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0305">
                  <a:extLst>
                    <a:ext uri="{9D8B030D-6E8A-4147-A177-3AD203B41FA5}">
                      <a16:colId xmlns:a16="http://schemas.microsoft.com/office/drawing/2014/main" val="2450725299"/>
                    </a:ext>
                  </a:extLst>
                </a:gridCol>
                <a:gridCol w="4220305">
                  <a:extLst>
                    <a:ext uri="{9D8B030D-6E8A-4147-A177-3AD203B41FA5}">
                      <a16:colId xmlns:a16="http://schemas.microsoft.com/office/drawing/2014/main" val="3726571666"/>
                    </a:ext>
                  </a:extLst>
                </a:gridCol>
              </a:tblGrid>
              <a:tr h="544971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Funcionalidad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Implementación en </a:t>
                      </a:r>
                      <a:r>
                        <a:rPr lang="es-ES" sz="20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Zybo</a:t>
                      </a:r>
                      <a:r>
                        <a:rPr lang="es-E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Z7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69444"/>
                  </a:ext>
                </a:extLst>
              </a:tr>
              <a:tr h="921964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Ejecución de la aplicación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Procesadores ARM Cortex-A9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428113"/>
                  </a:ext>
                </a:extLst>
              </a:tr>
              <a:tr h="544971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Configuración de la cámara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Interfaz I2C integrada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864429"/>
                  </a:ext>
                </a:extLst>
              </a:tr>
              <a:tr h="544971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Mensajes de depuración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UART integrada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316149"/>
                  </a:ext>
                </a:extLst>
              </a:tr>
              <a:tr h="544971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Acceso a memoria externa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Controlador DDR integrado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95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20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0F31-0F3F-94EC-D50B-A57261FE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>
            <a:extLst>
              <a:ext uri="{FF2B5EF4-FFF2-40B4-BE49-F238E27FC236}">
                <a16:creationId xmlns:a16="http://schemas.microsoft.com/office/drawing/2014/main" id="{9325CFBB-AC42-FABE-1516-0C6275A58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>
            <a:extLst>
              <a:ext uri="{FF2B5EF4-FFF2-40B4-BE49-F238E27FC236}">
                <a16:creationId xmlns:a16="http://schemas.microsoft.com/office/drawing/2014/main" id="{53535554-AAB3-EAB0-3E3A-4A77E0B7E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62163"/>
            <a:ext cx="7594600" cy="319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Introducción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de referencia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Canal de vídeo migrado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ampliado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Conclusiones y líneas futuras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77EE075-BFD4-47B8-22D6-B42DFC996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64053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C3739-7F17-86D2-A786-25425D0E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B8736210-A60F-6038-FF90-DAA16D7ED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migrado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DE649E50-3AB8-D47D-23E7-8E3D9E10D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AFE04A2B-0CFB-581A-068D-4C483295F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AF9C22B0-9E15-ADE6-3504-6744FD7D2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" y="1886013"/>
            <a:ext cx="8340724" cy="5342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spcBef>
                <a:spcPct val="50000"/>
              </a:spcBef>
              <a:buNone/>
            </a:pPr>
            <a:endParaRPr lang="es-ES_tradnl" altLang="es-ES" sz="20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Plano de Datos</a:t>
            </a:r>
            <a:r>
              <a:rPr lang="es-ES_tradnl" altLang="es-ES" sz="2000" dirty="0">
                <a:latin typeface="Arial" panose="020B0604020202020204" pitchFamily="34" charset="0"/>
                <a:cs typeface="Times New Roman" panose="02020603050405020304" pitchFamily="18" charset="0"/>
              </a:rPr>
              <a:t>: Cadena de vídeo casi inalterada.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Plano de Control</a:t>
            </a:r>
            <a:r>
              <a:rPr lang="es-ES_tradnl" altLang="es-ES" sz="2000" dirty="0">
                <a:latin typeface="Arial" panose="020B0604020202020204" pitchFamily="34" charset="0"/>
                <a:cs typeface="Times New Roman" panose="02020603050405020304" pitchFamily="18" charset="0"/>
              </a:rPr>
              <a:t>: Reproduce en lógica las funciones del PS.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s-ES_tradnl" altLang="es-E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BFBB68-2FAE-8183-7B1E-D7ADD2EB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9</a:t>
            </a:fld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96C097-4F45-A773-CFB4-6842E7687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7" y="1048329"/>
            <a:ext cx="8340725" cy="432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65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DB12-69E6-3820-A668-0D7D47EF3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D3598C97-9F80-03AA-D284-AE80F81DC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migrado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DF77C890-BC62-7F75-D690-53B1B5BF1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0FA3692D-A056-E133-FFA7-8D1FCF3F8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FF690B9B-D412-7DD0-C2B0-0CE373CD0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752" y="1012825"/>
            <a:ext cx="844061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000" b="1" dirty="0" err="1">
                <a:latin typeface="Arial" panose="020B0604020202020204" pitchFamily="34" charset="0"/>
                <a:cs typeface="Times New Roman" panose="02020603050405020304" pitchFamily="18" charset="0"/>
              </a:rPr>
              <a:t>MicroBlaze</a:t>
            </a:r>
            <a:r>
              <a:rPr lang="es-ES_tradnl" altLang="es-E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s-ES_tradnl" altLang="es-ES" sz="2000" dirty="0">
                <a:latin typeface="Arial" panose="020B0604020202020204" pitchFamily="34" charset="0"/>
                <a:cs typeface="Times New Roman" panose="02020603050405020304" pitchFamily="18" charset="0"/>
              </a:rPr>
              <a:t>Mantiene software de control, dimensionado mínimo y posee interfaz AXI4-Lite.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MIG: </a:t>
            </a:r>
            <a:r>
              <a:rPr lang="es-ES_tradnl" altLang="es-ES" sz="2000" dirty="0">
                <a:latin typeface="Arial" panose="020B0604020202020204" pitchFamily="34" charset="0"/>
                <a:cs typeface="Times New Roman" panose="02020603050405020304" pitchFamily="18" charset="0"/>
              </a:rPr>
              <a:t>Controlador de memoria DDR3L, frecuencia ajustada a la demanda (325 MHz) y sincronización del Plano de Datos (81,25 MHz)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Periféricos: </a:t>
            </a:r>
            <a:r>
              <a:rPr lang="es-ES_tradnl" altLang="es-ES" sz="2000" dirty="0">
                <a:latin typeface="Arial" panose="020B0604020202020204" pitchFamily="34" charset="0"/>
                <a:cs typeface="Times New Roman" panose="02020603050405020304" pitchFamily="18" charset="0"/>
              </a:rPr>
              <a:t>AXI UART Lite, AXI IIC y GPIO. </a:t>
            </a:r>
            <a:endParaRPr lang="es-ES_tradnl" altLang="es-ES" sz="2000" b="1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AC5E43-13ED-748B-D827-59389A4FE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10</a:t>
            </a:fld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2C44667-8FEE-2FBE-1669-32E0ABB76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638" y="1150048"/>
            <a:ext cx="81057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05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A63B-E7E7-4624-73F1-1940B05EC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62F8AD13-0FA8-DE06-E2D1-7399872AD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migrado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4015D997-3EE5-6CE9-E198-68A1F9377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9E36DFB5-75A7-D75A-50B3-F36E8135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97EF2093-0D2D-CC5E-93AA-8E074D2A1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24" y="1012825"/>
            <a:ext cx="8796528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 algn="ctr" eaLnBrk="1" hangingPunct="1">
              <a:spcBef>
                <a:spcPct val="50000"/>
              </a:spcBef>
              <a:buNone/>
            </a:pPr>
            <a:r>
              <a:rPr lang="es-ES" noProof="0" dirty="0">
                <a:latin typeface="Arial" panose="020B0604020202020204" pitchFamily="34" charset="0"/>
                <a:cs typeface="Times New Roman" panose="02020603050405020304" pitchFamily="18" charset="0"/>
              </a:rPr>
              <a:t>Interconexión y relojes</a:t>
            </a:r>
          </a:p>
          <a:p>
            <a:pPr marL="0" indent="0" algn="ctr" eaLnBrk="1" hangingPunct="1">
              <a:spcBef>
                <a:spcPct val="50000"/>
              </a:spcBef>
              <a:buNone/>
            </a:pPr>
            <a:endParaRPr 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spcBef>
                <a:spcPct val="50000"/>
              </a:spcBef>
              <a:buNone/>
            </a:pPr>
            <a:endParaRPr lang="es-ES" noProof="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spcBef>
                <a:spcPct val="50000"/>
              </a:spcBef>
              <a:buNone/>
            </a:pPr>
            <a:endParaRPr 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spcBef>
                <a:spcPct val="50000"/>
              </a:spcBef>
              <a:buNone/>
            </a:pPr>
            <a:endParaRPr lang="es-ES" noProof="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0" indent="0" algn="ctr" eaLnBrk="1" hangingPunct="1">
              <a:spcBef>
                <a:spcPct val="50000"/>
              </a:spcBef>
              <a:buNone/>
            </a:pPr>
            <a:endParaRPr lang="es-ES" sz="1200" noProof="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sz="1900" dirty="0">
                <a:latin typeface="Arial" panose="020B0604020202020204" pitchFamily="34" charset="0"/>
                <a:cs typeface="Times New Roman" panose="02020603050405020304" pitchFamily="18" charset="0"/>
              </a:rPr>
              <a:t>Dos redes independientes: Control (AXI4-Lite), Memoria (alto rendimiento)</a:t>
            </a: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" sz="1900" noProof="0" dirty="0">
                <a:latin typeface="Arial" panose="020B0604020202020204" pitchFamily="34" charset="0"/>
                <a:cs typeface="Times New Roman" panose="02020603050405020304" pitchFamily="18" charset="0"/>
              </a:rPr>
              <a:t>Relojes generados en la lógica segmentados por dominio.</a:t>
            </a:r>
          </a:p>
          <a:p>
            <a:pPr marL="0" indent="0" algn="ctr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55DBC22-F457-5E09-6A2E-E7286D08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11</a:t>
            </a:fld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A6E879-FD8E-5E5E-154B-4F5C6FC86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2" y="1647634"/>
            <a:ext cx="8486775" cy="292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54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BD595-152E-D7C7-84F8-46B142044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4FA571DE-2036-BF59-1277-C095DD4A7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migrado 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9FC9B767-168B-E7B5-5BD8-741C7AEB7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06C1F83D-5CCF-9C59-8257-4CC9274E0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208F959C-BCDE-011D-1065-D0B71E733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198" y="1012825"/>
            <a:ext cx="8266874" cy="5378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Adaptación de la salida de vídeo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Arty S7-50 carece de conector HDMI.</a:t>
            </a:r>
          </a:p>
          <a:p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Los bancos de la Serie 7 soportan TMDS. </a:t>
            </a:r>
          </a:p>
          <a:p>
            <a:r>
              <a:rPr lang="es-ES" sz="1900" dirty="0">
                <a:latin typeface="Arial" panose="020B0604020202020204" pitchFamily="34" charset="0"/>
                <a:cs typeface="Arial" panose="020B0604020202020204" pitchFamily="34" charset="0"/>
              </a:rPr>
              <a:t>Adaptación de un cable HDMI comercial a un puerto PMOD de la placa.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s-ES_tradnl" altLang="es-ES" sz="18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4E9B2CE-AA06-E695-8D8C-4C69B372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12</a:t>
            </a:fld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E26A1BB-171D-5C87-0BA3-3A5DB60A67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63" y="1385318"/>
            <a:ext cx="8266874" cy="369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168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42F42-7F50-C208-E222-C099674A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>
            <a:extLst>
              <a:ext uri="{FF2B5EF4-FFF2-40B4-BE49-F238E27FC236}">
                <a16:creationId xmlns:a16="http://schemas.microsoft.com/office/drawing/2014/main" id="{E533F27C-81FD-E377-1C4D-908044E4E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>
            <a:extLst>
              <a:ext uri="{FF2B5EF4-FFF2-40B4-BE49-F238E27FC236}">
                <a16:creationId xmlns:a16="http://schemas.microsoft.com/office/drawing/2014/main" id="{E939A2CC-8F8C-419E-06BF-4D4306568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62163"/>
            <a:ext cx="7594600" cy="319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Introducción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de referencia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migrado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Canal de vídeo ampliado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Conclusiones y líneas futuras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F93AB69-0922-4258-6D08-455E2FF7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503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752C8-B73E-D32E-3088-55905835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8ABB81A2-B3AB-1226-C7F1-C460E95E3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ampliado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55B6AE61-3860-70FC-4A75-920C821CC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115421FA-795A-5A8D-1680-95FD06DE7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16E5789B-B143-6CCA-ADAA-7A72CB4EA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4"/>
            <a:ext cx="8001000" cy="554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Sistema de monitorización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7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1800" dirty="0">
                <a:latin typeface="Arial" panose="020B0604020202020204" pitchFamily="34" charset="0"/>
                <a:cs typeface="Times New Roman" panose="02020603050405020304" pitchFamily="18" charset="0"/>
              </a:rPr>
              <a:t>APM: Contabiliza los bytes de fotogramas transferidos.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1800" dirty="0">
                <a:latin typeface="Arial" panose="020B0604020202020204" pitchFamily="34" charset="0"/>
                <a:cs typeface="Times New Roman" panose="02020603050405020304" pitchFamily="18" charset="0"/>
              </a:rPr>
              <a:t>Timer: Referencia temporal para las medida.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1800" dirty="0">
                <a:latin typeface="Arial" panose="020B0604020202020204" pitchFamily="34" charset="0"/>
                <a:cs typeface="Times New Roman" panose="02020603050405020304" pitchFamily="18" charset="0"/>
              </a:rPr>
              <a:t>Medida por hardware, no interrumpe la ejecución del software.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533CBD6-B61C-A73A-B56C-B89AA136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14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2B3C6CF-1489-C799-2B45-E1D0BAAD7919}"/>
                  </a:ext>
                </a:extLst>
              </p:cNvPr>
              <p:cNvSpPr txBox="1"/>
              <p:nvPr/>
            </p:nvSpPr>
            <p:spPr>
              <a:xfrm>
                <a:off x="2201299" y="5690909"/>
                <a:ext cx="4674989" cy="670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𝐵𝑊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𝐵𝑦𝑡𝑒𝑠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𝑡𝑟𝑎𝑛𝑠𝑓𝑒𝑟𝑖𝑑𝑜𝑠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𝑇𝑖𝑒𝑚𝑝𝑜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𝑚𝑒𝑑𝑖𝑑𝑎</m:t>
                        </m:r>
                      </m:den>
                    </m:f>
                  </m:oMath>
                </a14:m>
                <a:r>
                  <a:rPr lang="es-ES" dirty="0"/>
                  <a:t>  [B/s]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E2B3C6CF-1489-C799-2B45-E1D0BAAD7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299" y="5690909"/>
                <a:ext cx="4674989" cy="670248"/>
              </a:xfrm>
              <a:prstGeom prst="rect">
                <a:avLst/>
              </a:prstGeom>
              <a:blipFill>
                <a:blip r:embed="rId2"/>
                <a:stretch>
                  <a:fillRect b="-275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ABD8762F-4D5F-456C-3D6C-6801B6DBD2BC}"/>
              </a:ext>
            </a:extLst>
          </p:cNvPr>
          <p:cNvSpPr txBox="1"/>
          <p:nvPr/>
        </p:nvSpPr>
        <p:spPr>
          <a:xfrm>
            <a:off x="1152144" y="5824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5CCA199-E85C-63F2-D3BB-7350B07D34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62" y="1600201"/>
            <a:ext cx="7661276" cy="282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463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41CF7-6EFD-8E56-E1E2-A2662531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6C0558DE-EEA3-67F9-8C1A-3818032A7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Canal de vídeo ampliado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E4ABA67B-E911-851B-632E-E62D1E9FF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D5B7A4B3-8D7C-05EC-1C04-6A6A102D8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0A4AF7D9-3194-8937-CF73-824E4D786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Módulo HLS y OSD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105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105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1800" dirty="0">
                <a:latin typeface="Arial" panose="020B0604020202020204" pitchFamily="34" charset="0"/>
                <a:cs typeface="Times New Roman" panose="02020603050405020304" pitchFamily="18" charset="0"/>
              </a:rPr>
              <a:t>Bloque único configurable: conmuta entre generación de patrones y procesado de vídeo de la cámara.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1800" dirty="0">
                <a:latin typeface="Arial" panose="020B0604020202020204" pitchFamily="34" charset="0"/>
                <a:cs typeface="Times New Roman" panose="02020603050405020304" pitchFamily="18" charset="0"/>
              </a:rPr>
              <a:t>Dominios de reloj independientes para el flujo de datos y de control.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1800" dirty="0">
                <a:latin typeface="Arial" panose="020B0604020202020204" pitchFamily="34" charset="0"/>
                <a:cs typeface="Times New Roman" panose="02020603050405020304" pitchFamily="18" charset="0"/>
              </a:rPr>
              <a:t>OSD: representación sobre los fotogramas de las métricas medidas.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956D232-0B3C-1DF1-A79A-F78778C4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15</a:t>
            </a:fld>
            <a:endParaRPr lang="es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7D4EF0D-BD19-F5A5-F96B-CE0D3E708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62" y="1697229"/>
            <a:ext cx="4740021" cy="2802632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9EBAD02-23C0-8BA2-D198-2FD2AF4209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931" y="1697229"/>
            <a:ext cx="3086431" cy="232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152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D3EF3-B7C1-ACA0-EB56-226AF9CCF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>
            <a:extLst>
              <a:ext uri="{FF2B5EF4-FFF2-40B4-BE49-F238E27FC236}">
                <a16:creationId xmlns:a16="http://schemas.microsoft.com/office/drawing/2014/main" id="{12FEF21E-8FF8-8F59-6F06-A8A899A5D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>
            <a:extLst>
              <a:ext uri="{FF2B5EF4-FFF2-40B4-BE49-F238E27FC236}">
                <a16:creationId xmlns:a16="http://schemas.microsoft.com/office/drawing/2014/main" id="{F6445929-A542-4188-A459-AC8860A83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62163"/>
            <a:ext cx="7594600" cy="319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Introducción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de referencia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migrado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ampliado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Conclusiones y líneas futuras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E0F1D5B-D49B-C898-C8D5-1680CFBF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21479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D5C5-2649-E2C4-1F7E-2782349C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6E66C502-9221-1B9A-3B7C-94EFF0373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233E960F-CCC4-9110-90AB-08CB1AF8E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663ECA26-2651-4EE7-BFF9-A9E78D69B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3243FF3A-C2EF-082D-2827-5BFDF9F86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Coste en recursos lógicos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1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200" dirty="0">
                <a:latin typeface="Arial" panose="020B0604020202020204" pitchFamily="34" charset="0"/>
                <a:cs typeface="Times New Roman" panose="02020603050405020304" pitchFamily="18" charset="0"/>
              </a:rPr>
              <a:t>El Plano de Control supone el 70% de LUT del sistema migrado.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200" dirty="0">
                <a:latin typeface="Arial" panose="020B0604020202020204" pitchFamily="34" charset="0"/>
                <a:cs typeface="Times New Roman" panose="02020603050405020304" pitchFamily="18" charset="0"/>
              </a:rPr>
              <a:t>Añadir las ampliaciones (~4000 LUT) a la </a:t>
            </a:r>
            <a:r>
              <a:rPr lang="es-ES_tradnl" altLang="es-ES" sz="2200" dirty="0" err="1">
                <a:latin typeface="Arial" panose="020B0604020202020204" pitchFamily="34" charset="0"/>
                <a:cs typeface="Times New Roman" panose="02020603050405020304" pitchFamily="18" charset="0"/>
              </a:rPr>
              <a:t>Zybo</a:t>
            </a:r>
            <a:r>
              <a:rPr lang="es-ES_tradnl" altLang="es-ES" sz="2200" dirty="0">
                <a:latin typeface="Arial" panose="020B0604020202020204" pitchFamily="34" charset="0"/>
                <a:cs typeface="Times New Roman" panose="02020603050405020304" pitchFamily="18" charset="0"/>
              </a:rPr>
              <a:t> elevaría la ocupación al 58%.</a:t>
            </a:r>
          </a:p>
          <a:p>
            <a:pPr marL="914400" lvl="2" indent="0" eaLnBrk="1" hangingPunct="1">
              <a:spcBef>
                <a:spcPct val="50000"/>
              </a:spcBef>
              <a:buNone/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162C9BE-C223-8239-79FC-CBCD03DA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17</a:t>
            </a:fld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A06A5C4-779C-CCD6-770C-FA5C7E318B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685061"/>
              </p:ext>
            </p:extLst>
          </p:nvPr>
        </p:nvGraphicFramePr>
        <p:xfrm>
          <a:off x="741362" y="1662176"/>
          <a:ext cx="7661275" cy="2498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255">
                  <a:extLst>
                    <a:ext uri="{9D8B030D-6E8A-4147-A177-3AD203B41FA5}">
                      <a16:colId xmlns:a16="http://schemas.microsoft.com/office/drawing/2014/main" val="1202503789"/>
                    </a:ext>
                  </a:extLst>
                </a:gridCol>
                <a:gridCol w="1532255">
                  <a:extLst>
                    <a:ext uri="{9D8B030D-6E8A-4147-A177-3AD203B41FA5}">
                      <a16:colId xmlns:a16="http://schemas.microsoft.com/office/drawing/2014/main" val="3618979711"/>
                    </a:ext>
                  </a:extLst>
                </a:gridCol>
                <a:gridCol w="1532255">
                  <a:extLst>
                    <a:ext uri="{9D8B030D-6E8A-4147-A177-3AD203B41FA5}">
                      <a16:colId xmlns:a16="http://schemas.microsoft.com/office/drawing/2014/main" val="1479459406"/>
                    </a:ext>
                  </a:extLst>
                </a:gridCol>
                <a:gridCol w="1532255">
                  <a:extLst>
                    <a:ext uri="{9D8B030D-6E8A-4147-A177-3AD203B41FA5}">
                      <a16:colId xmlns:a16="http://schemas.microsoft.com/office/drawing/2014/main" val="3225577764"/>
                    </a:ext>
                  </a:extLst>
                </a:gridCol>
                <a:gridCol w="1532255">
                  <a:extLst>
                    <a:ext uri="{9D8B030D-6E8A-4147-A177-3AD203B41FA5}">
                      <a16:colId xmlns:a16="http://schemas.microsoft.com/office/drawing/2014/main" val="3489747905"/>
                    </a:ext>
                  </a:extLst>
                </a:gridCol>
              </a:tblGrid>
              <a:tr h="624586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Plataforma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LUT Totales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Ocupación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774681"/>
                  </a:ext>
                </a:extLst>
              </a:tr>
              <a:tr h="624586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Zybo</a:t>
                      </a:r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Z7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66365"/>
                  </a:ext>
                </a:extLst>
              </a:tr>
              <a:tr h="624586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Migrado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Arty S7-50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12439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904280"/>
                  </a:ext>
                </a:extLst>
              </a:tr>
              <a:tr h="624586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Ampliado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Arty S7-50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16496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621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271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8C03-1A15-784C-71C7-76ED1BBC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0631F110-A907-1175-ACC0-D0BD81CBD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D91CEBA6-6C94-01C3-5E23-E482C8DE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2025175E-1F62-2CAF-E973-BC9FB193E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87A088CB-0C0E-AFBD-A80F-4BF72D767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Consumo de potencia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algn="ctr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algn="ctr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200" dirty="0">
                <a:latin typeface="Arial" panose="020B0604020202020204" pitchFamily="34" charset="0"/>
                <a:cs typeface="Times New Roman" panose="02020603050405020304" pitchFamily="18" charset="0"/>
              </a:rPr>
              <a:t>Comparación a frecuencias de operación equiparables.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200" dirty="0">
                <a:latin typeface="Arial" panose="020B0604020202020204" pitchFamily="34" charset="0"/>
                <a:cs typeface="Times New Roman" panose="02020603050405020304" pitchFamily="18" charset="0"/>
              </a:rPr>
              <a:t>Instrumentos de medida distintos: equivalencia en orden de magnitud. </a:t>
            </a:r>
          </a:p>
          <a:p>
            <a:pPr marL="457200" lvl="1" indent="0" eaLnBrk="1" hangingPunct="1">
              <a:spcBef>
                <a:spcPct val="50000"/>
              </a:spcBef>
              <a:buNone/>
            </a:pPr>
            <a:r>
              <a:rPr lang="es-ES_tradnl" altLang="es-ES" sz="2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914400" lvl="2" indent="0" eaLnBrk="1" hangingPunct="1">
              <a:spcBef>
                <a:spcPct val="50000"/>
              </a:spcBef>
              <a:buNone/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534F7FF-84B8-4A40-8119-AC7ACDB1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18</a:t>
            </a:fld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FF45F879-8E14-3259-AF1D-D81F31CB4B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474184"/>
              </p:ext>
            </p:extLst>
          </p:nvPr>
        </p:nvGraphicFramePr>
        <p:xfrm>
          <a:off x="1188720" y="1973072"/>
          <a:ext cx="6720840" cy="193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3019799014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76929323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301912339"/>
                    </a:ext>
                  </a:extLst>
                </a:gridCol>
              </a:tblGrid>
              <a:tr h="64380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Plataforma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Método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Potencia (W)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269176"/>
                  </a:ext>
                </a:extLst>
              </a:tr>
              <a:tr h="643805">
                <a:tc>
                  <a:txBody>
                    <a:bodyPr/>
                    <a:lstStyle/>
                    <a:p>
                      <a:pPr algn="ctr"/>
                      <a:r>
                        <a:rPr lang="es-E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Zybo</a:t>
                      </a:r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Z7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XADC integrado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2,308 </a:t>
                      </a:r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 0,071</a:t>
                      </a:r>
                      <a:endParaRPr lang="es-E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681174"/>
                  </a:ext>
                </a:extLst>
              </a:tr>
              <a:tr h="643805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Arty S7-50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Shunt externo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2,067 </a:t>
                      </a:r>
                      <a:r>
                        <a:rPr lang="es-E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± 0,103</a:t>
                      </a:r>
                      <a:endParaRPr lang="es-E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787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4503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9C1-A9AB-BEC5-004F-C3F36EA5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5A93B3F3-84A0-1022-B8C4-3E34596FD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B4939E57-3A55-C2C1-83CF-A6ABACFFC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54419BCD-B254-C0F6-90CF-CDAA7754C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4ED05515-48EF-F190-C4F6-7F3A6C837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Coste económico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000" dirty="0">
                <a:latin typeface="Arial" panose="020B0604020202020204" pitchFamily="34" charset="0"/>
                <a:cs typeface="Times New Roman" panose="02020603050405020304" pitchFamily="18" charset="0"/>
              </a:rPr>
              <a:t>Mismo precio, doble de lógica disponible en la discreta.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000" dirty="0">
                <a:latin typeface="Arial" panose="020B0604020202020204" pitchFamily="34" charset="0"/>
                <a:cs typeface="Times New Roman" panose="02020603050405020304" pitchFamily="18" charset="0"/>
              </a:rPr>
              <a:t>En un canal de vídeo, aumentar el sistema normalmente implica aumentar la lógica ocupada.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s-ES_tradnl" altLang="es-ES" sz="20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endParaRPr lang="es-ES_tradnl" altLang="es-ES" sz="20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45945E2-66A9-6879-36A0-C26E4A6C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19</a:t>
            </a:fld>
            <a:endParaRPr lang="es-ES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EE65D6A-6995-C870-19C4-6406E4832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361550"/>
              </p:ext>
            </p:extLst>
          </p:nvPr>
        </p:nvGraphicFramePr>
        <p:xfrm>
          <a:off x="741363" y="1835911"/>
          <a:ext cx="7716837" cy="23659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2279">
                  <a:extLst>
                    <a:ext uri="{9D8B030D-6E8A-4147-A177-3AD203B41FA5}">
                      <a16:colId xmlns:a16="http://schemas.microsoft.com/office/drawing/2014/main" val="598456485"/>
                    </a:ext>
                  </a:extLst>
                </a:gridCol>
                <a:gridCol w="2572279">
                  <a:extLst>
                    <a:ext uri="{9D8B030D-6E8A-4147-A177-3AD203B41FA5}">
                      <a16:colId xmlns:a16="http://schemas.microsoft.com/office/drawing/2014/main" val="3058848768"/>
                    </a:ext>
                  </a:extLst>
                </a:gridCol>
                <a:gridCol w="2572279">
                  <a:extLst>
                    <a:ext uri="{9D8B030D-6E8A-4147-A177-3AD203B41FA5}">
                      <a16:colId xmlns:a16="http://schemas.microsoft.com/office/drawing/2014/main" val="4255535597"/>
                    </a:ext>
                  </a:extLst>
                </a:gridCol>
              </a:tblGrid>
              <a:tr h="473189">
                <a:tc>
                  <a:txBody>
                    <a:bodyPr/>
                    <a:lstStyle/>
                    <a:p>
                      <a:pPr algn="ctr"/>
                      <a:endParaRPr lang="es-ES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XC7Z010 (</a:t>
                      </a:r>
                      <a:r>
                        <a:rPr lang="es-ES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</a:t>
                      </a:r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XC7S50 (discreta)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583538"/>
                  </a:ext>
                </a:extLst>
              </a:tr>
              <a:tr h="473189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Procesador integrado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7904297"/>
                  </a:ext>
                </a:extLst>
              </a:tr>
              <a:tr h="473189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32600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568443"/>
                  </a:ext>
                </a:extLst>
              </a:tr>
              <a:tr h="473189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62,21 €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64,91 €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911259"/>
                  </a:ext>
                </a:extLst>
              </a:tr>
              <a:tr h="473189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€/</a:t>
                      </a:r>
                      <a:r>
                        <a:rPr lang="es-ES" u="none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kLUT</a:t>
                      </a:r>
                      <a:endParaRPr lang="es-ES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7129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9404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B050-EA12-6D05-9846-DE5C397B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9">
            <a:extLst>
              <a:ext uri="{FF2B5EF4-FFF2-40B4-BE49-F238E27FC236}">
                <a16:creationId xmlns:a16="http://schemas.microsoft.com/office/drawing/2014/main" id="{8AC9CE3A-860E-74FF-6074-015F05C30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073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Índice</a:t>
            </a:r>
            <a:r>
              <a:rPr lang="en-029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 de </a:t>
            </a:r>
            <a:r>
              <a:rPr lang="en-029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contenidos</a:t>
            </a:r>
            <a:endParaRPr lang="en-029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5123" name="Text Box 11">
            <a:extLst>
              <a:ext uri="{FF2B5EF4-FFF2-40B4-BE49-F238E27FC236}">
                <a16:creationId xmlns:a16="http://schemas.microsoft.com/office/drawing/2014/main" id="{5D9E2A65-0D81-3DD3-E2BE-4811B2E18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062163"/>
            <a:ext cx="7594600" cy="319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118800" rIns="91432" bIns="118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Introducción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de referencia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migrado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Canal de vídeo ampliado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Resultados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s-ES" altLang="es-ES" b="1" dirty="0">
                <a:latin typeface="Arial Narrow" panose="020B0606020202030204" pitchFamily="34" charset="0"/>
              </a:rPr>
              <a:t>Conclusiones y líneas futuras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1DCA164-3D7D-A9DD-AF62-1E52C911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94260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3074"/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Conclusiones  y líneas futuras</a:t>
            </a:r>
          </a:p>
        </p:txBody>
      </p:sp>
      <p:sp>
        <p:nvSpPr>
          <p:cNvPr id="9219" name="Rectangle 3075"/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9220" name="Rectangle 3076"/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9221" name="Rectangle 3137"/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s-ES" sz="2800" dirty="0" err="1">
                <a:latin typeface="Arial" panose="020B0604020202020204" pitchFamily="34" charset="0"/>
                <a:cs typeface="Times New Roman" panose="02020603050405020304" pitchFamily="18" charset="0"/>
              </a:rPr>
              <a:t>Conclusiones</a:t>
            </a:r>
            <a:r>
              <a:rPr lang="en-US" altLang="es-ES" sz="28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La migración a una FPGA discreta es viable.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Ampliar la arquitectura es más rentable.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Una FPGA discreta puede alojar sistemas completos sin necesidad de procesador integrado.</a:t>
            </a: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es-ES" sz="2800" dirty="0" err="1">
                <a:latin typeface="Arial" panose="020B0604020202020204" pitchFamily="34" charset="0"/>
                <a:cs typeface="Times New Roman" panose="02020603050405020304" pitchFamily="18" charset="0"/>
              </a:rPr>
              <a:t>Líneas</a:t>
            </a:r>
            <a:r>
              <a:rPr lang="en-US" altLang="es-ES" sz="28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s-ES" sz="2800" dirty="0" err="1">
                <a:latin typeface="Arial" panose="020B0604020202020204" pitchFamily="34" charset="0"/>
                <a:cs typeface="Times New Roman" panose="02020603050405020304" pitchFamily="18" charset="0"/>
              </a:rPr>
              <a:t>futuras</a:t>
            </a:r>
            <a:r>
              <a:rPr lang="en-US" altLang="es-ES" sz="28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Probar otras opciones de </a:t>
            </a:r>
            <a:r>
              <a:rPr lang="es-ES_tradnl" altLang="es-ES" sz="2400" i="1" dirty="0" err="1">
                <a:latin typeface="Arial" panose="020B0604020202020204" pitchFamily="34" charset="0"/>
                <a:cs typeface="Times New Roman" panose="02020603050405020304" pitchFamily="18" charset="0"/>
              </a:rPr>
              <a:t>soft-core</a:t>
            </a: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Emplear sensores de captura o salidas de mayor resolución.</a:t>
            </a:r>
          </a:p>
          <a:p>
            <a:pPr lvl="1" eaLnBrk="1" hangingPunct="1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s-ES_tradnl" altLang="es-ES" sz="2400" dirty="0">
                <a:latin typeface="Arial" panose="020B0604020202020204" pitchFamily="34" charset="0"/>
                <a:cs typeface="Times New Roman" panose="02020603050405020304" pitchFamily="18" charset="0"/>
              </a:rPr>
              <a:t>Demostrar la portabilidad a una Arty S7-25.</a:t>
            </a:r>
          </a:p>
          <a:p>
            <a:pPr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457200" lvl="1" indent="0" eaLnBrk="1" hangingPunct="1">
              <a:spcBef>
                <a:spcPct val="50000"/>
              </a:spcBef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50000"/>
              </a:spcBef>
              <a:buFontTx/>
              <a:buNone/>
            </a:pPr>
            <a:endParaRPr lang="es-ES_tradnl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FEC34F-3CF1-1BE6-1733-8DCCC994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21</a:t>
            </a:fld>
            <a:endParaRPr lang="es-E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A0F39-B429-43D8-6133-F3DE52948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17EA2AE0-6DA6-8613-DA30-6B31A23CC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Summary</a:t>
            </a:r>
            <a:endParaRPr lang="es-AR" altLang="es-ES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148BD4F5-800D-D069-4D8A-A1731C2E7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34147560-9382-1037-A93F-48291C9AE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24DEC900-1DFB-2068-802D-C32FBDD2E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0"/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Objective: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can a low-cost discrete FPGA host a complete video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channel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0"/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Method: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reproduce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functions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programmable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and a configurable HLS video module.</a:t>
            </a:r>
          </a:p>
          <a:p>
            <a:pPr lvl="0"/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feasible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and no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penalty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/>
            <a:endParaRPr lang="es-E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s-ES" sz="2200" b="1" dirty="0" err="1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s-ES" sz="22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A discrete FPGA can be a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cheaper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processing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latin typeface="Arial" panose="020B0604020202020204" pitchFamily="34" charset="0"/>
                <a:cs typeface="Arial" panose="020B0604020202020204" pitchFamily="34" charset="0"/>
              </a:rPr>
              <a:t>needed</a:t>
            </a:r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_tradnl" altLang="es-ES" sz="2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4696A0E-9794-CF36-BAC2-2933DF29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4869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D5C9-E8AD-6ACC-9666-349B6DD6E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074">
            <a:extLst>
              <a:ext uri="{FF2B5EF4-FFF2-40B4-BE49-F238E27FC236}">
                <a16:creationId xmlns:a16="http://schemas.microsoft.com/office/drawing/2014/main" id="{D073C324-F9CA-769A-F620-DF106846F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177800"/>
            <a:ext cx="7645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2" tIns="45716" rIns="91432" bIns="45716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s-AR" altLang="es-ES" b="1" dirty="0">
                <a:solidFill>
                  <a:schemeClr val="bg1"/>
                </a:solidFill>
                <a:latin typeface="Arial Narrow" panose="020B0606020202030204" pitchFamily="34" charset="0"/>
              </a:rPr>
              <a:t>Fin de la presentación</a:t>
            </a:r>
          </a:p>
        </p:txBody>
      </p:sp>
      <p:sp>
        <p:nvSpPr>
          <p:cNvPr id="7171" name="Rectangle 3075">
            <a:extLst>
              <a:ext uri="{FF2B5EF4-FFF2-40B4-BE49-F238E27FC236}">
                <a16:creationId xmlns:a16="http://schemas.microsoft.com/office/drawing/2014/main" id="{227E1B27-BADE-3D07-A884-B8C6E285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2" name="Rectangle 3076">
            <a:extLst>
              <a:ext uri="{FF2B5EF4-FFF2-40B4-BE49-F238E27FC236}">
                <a16:creationId xmlns:a16="http://schemas.microsoft.com/office/drawing/2014/main" id="{659C3051-A59A-A181-2A72-74E59AD1E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s-ES_tradnl" altLang="es-ES" sz="2400"/>
          </a:p>
        </p:txBody>
      </p:sp>
      <p:sp>
        <p:nvSpPr>
          <p:cNvPr id="7173" name="Rectangle 3137">
            <a:extLst>
              <a:ext uri="{FF2B5EF4-FFF2-40B4-BE49-F238E27FC236}">
                <a16:creationId xmlns:a16="http://schemas.microsoft.com/office/drawing/2014/main" id="{5E719CB2-8BF7-6B87-BF8B-3EA9085E3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8" y="1012825"/>
            <a:ext cx="8001000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sz="5400" dirty="0">
                <a:latin typeface="Arial" panose="020B0604020202020204" pitchFamily="34" charset="0"/>
                <a:cs typeface="Times New Roman" panose="02020603050405020304" pitchFamily="18" charset="0"/>
              </a:rPr>
              <a:t>FIN</a:t>
            </a: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endParaRPr lang="es-ES_tradnl" altLang="es-ES" sz="32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 algn="ctr" eaLnBrk="1" hangingPunct="1">
              <a:spcBef>
                <a:spcPct val="50000"/>
              </a:spcBef>
              <a:buFontTx/>
              <a:buNone/>
            </a:pPr>
            <a:r>
              <a:rPr lang="es-ES_tradnl" altLang="es-ES" dirty="0">
                <a:latin typeface="Arial" panose="020B0604020202020204" pitchFamily="34" charset="0"/>
                <a:cs typeface="Times New Roman" panose="02020603050405020304" pitchFamily="18" charset="0"/>
              </a:rPr>
              <a:t>Gracias por su atención.</a:t>
            </a:r>
          </a:p>
          <a:p>
            <a:pPr lvl="2" eaLnBrk="1" hangingPunct="1">
              <a:spcBef>
                <a:spcPct val="50000"/>
              </a:spcBef>
            </a:pPr>
            <a:endParaRPr lang="en-US" altLang="es-ES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848FA35-7A62-9723-B9BC-94A337C1D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7023-06E7-4F6E-AB96-5B38D59BC7A6}" type="slidenum">
              <a:rPr lang="es-ES" smtClean="0"/>
              <a:pPr>
                <a:defRPr/>
              </a:pPr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14842968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7088</TotalTime>
  <Words>872</Words>
  <Application>Microsoft Office PowerPoint</Application>
  <PresentationFormat>Presentación en pantalla (4:3)</PresentationFormat>
  <Paragraphs>286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Arial Narrow</vt:lpstr>
      <vt:lpstr>Calibri</vt:lpstr>
      <vt:lpstr>Cambria Math</vt:lpstr>
      <vt:lpstr>Times New Roman</vt:lpstr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de Málaga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Presentación TFE ETSIT 2015</dc:title>
  <dc:creator>ETSIT UMA</dc:creator>
  <cp:lastModifiedBy>Alfonso Suárez Gasull</cp:lastModifiedBy>
  <cp:revision>111</cp:revision>
  <dcterms:created xsi:type="dcterms:W3CDTF">2004-11-08T12:44:10Z</dcterms:created>
  <dcterms:modified xsi:type="dcterms:W3CDTF">2026-10-13T16:18:07Z</dcterms:modified>
</cp:coreProperties>
</file>